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Rubik"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de apoio à apostila de Git e GitHub. Pratique cada comando no computador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cada etapa é independente. Um commit pode ser feito sem internet; só o push depende do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rodem git --version no computador do laboratório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Demonstre a sequência init, add e commit em um projeto de teste. Peça que os alunos repitam.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Faça este exemplo ao vivo. Os alunos repetem em uma pasta própria.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git branch para listar as branches e o asterisco que indica a atual.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conflito não é erro grave. Ele só pede uma decisão humana sobre qual texto 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 que todos os alunos foram adicionados como collaborators antes do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a diferença entre fetch (só baixa) e pull (baixa e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Lembre que nunca se publica senha, token ou arquivo .env no repositório.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a aula pedindo que cada grupo mostre um pull request aprovado.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0589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0589A"/>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0589A"/>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0589A"/>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tipo Senac">    </p:cNvPr>
          <p:cNvPicPr>
            <a:picLocks noChangeAspect="1"/>
          </p:cNvPicPr>
          <p:nvPr/>
        </p:nvPicPr>
        <p:blipFill>
          <a:blip r:embed="rId1"/>
          <a:srcRect l="-116" r="-116" t="0" b="0"/>
          <a:stretch/>
        </p:blipFill>
        <p:spPr>
          <a:xfrm>
            <a:off x="812800" y="812800"/>
            <a:ext cx="1301750" cy="762000"/>
          </a:xfrm>
          <a:prstGeom prst="rect">
            <a:avLst/>
          </a:prstGeom>
        </p:spPr>
      </p:pic>
      <p:sp>
        <p:nvSpPr>
          <p:cNvPr id="3" name="Text 0"/>
          <p:cNvSpPr/>
          <p:nvPr/>
        </p:nvSpPr>
        <p:spPr>
          <a:xfrm>
            <a:off x="812800" y="24232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7901E"/>
                </a:solidFill>
                <a:latin typeface="Rubik" pitchFamily="34" charset="0"/>
                <a:ea typeface="Rubik" pitchFamily="34" charset="-122"/>
                <a:cs typeface="Rubik" pitchFamily="34" charset="-120"/>
              </a:rPr>
              <a:t>APOSTILA DE APOIO</a:t>
            </a:r>
            <a:endParaRPr lang="en-US" sz="1600" dirty="0"/>
          </a:p>
        </p:txBody>
      </p:sp>
      <p:sp>
        <p:nvSpPr>
          <p:cNvPr id="4" name="Text 1"/>
          <p:cNvSpPr/>
          <p:nvPr>
            <p:ph type="title"/>
          </p:nvPr>
        </p:nvSpPr>
        <p:spPr>
          <a:xfrm>
            <a:off x="812800" y="29108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00589A"/>
                </a:solidFill>
                <a:latin typeface="Rubik" pitchFamily="34" charset="0"/>
                <a:ea typeface="Rubik" pitchFamily="34" charset="-122"/>
                <a:cs typeface="Rubik" pitchFamily="34" charset="-120"/>
              </a:rPr>
              <a:t>Git e GitHub: comandos essenciais</a:t>
            </a:r>
            <a:endParaRPr lang="en-US" sz="6000" dirty="0"/>
          </a:p>
        </p:txBody>
      </p:sp>
      <p:sp>
        <p:nvSpPr>
          <p:cNvPr id="5" name="Text 2"/>
          <p:cNvSpPr/>
          <p:nvPr/>
        </p:nvSpPr>
        <p:spPr>
          <a:xfrm>
            <a:off x="812800" y="47142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A6B7D"/>
                </a:solidFill>
                <a:latin typeface="Rubik" pitchFamily="34" charset="0"/>
                <a:ea typeface="Rubik" pitchFamily="34" charset="-122"/>
                <a:cs typeface="Rubik" pitchFamily="34" charset="-120"/>
              </a:rPr>
              <a:t>Instalar, versionar, criar branches e trabalhar em grupo</a:t>
            </a:r>
            <a:endParaRPr lang="en-US" sz="2000" dirty="0"/>
          </a:p>
        </p:txBody>
      </p:sp>
      <p:sp>
        <p:nvSpPr>
          <p:cNvPr id="6" name="Shape 3"/>
          <p:cNvSpPr/>
          <p:nvPr/>
        </p:nvSpPr>
        <p:spPr>
          <a:xfrm>
            <a:off x="812800" y="5918200"/>
            <a:ext cx="10566400" cy="127000"/>
          </a:xfrm>
          <a:prstGeom prst="rect">
            <a:avLst/>
          </a:prstGeom>
          <a:solidFill>
            <a:srgbClr val="F7901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Como o Git organiza o trabalho</a:t>
            </a:r>
            <a:endParaRPr lang="en-US" sz="3600" dirty="0"/>
          </a:p>
        </p:txBody>
      </p:sp>
      <p:sp>
        <p:nvSpPr>
          <p:cNvPr id="3" name="Shape 1"/>
          <p:cNvSpPr/>
          <p:nvPr/>
        </p:nvSpPr>
        <p:spPr>
          <a:xfrm>
            <a:off x="812800" y="1722041"/>
            <a:ext cx="2489200" cy="2092623"/>
          </a:xfrm>
          <a:prstGeom prst="roundRect">
            <a:avLst>
              <a:gd name="adj" fmla="val 4855"/>
            </a:avLst>
          </a:prstGeom>
          <a:solidFill>
            <a:srgbClr val="F4F6F9"/>
          </a:solidFill>
          <a:ln/>
        </p:spPr>
      </p:sp>
      <p:sp>
        <p:nvSpPr>
          <p:cNvPr id="4" name="Shape 2"/>
          <p:cNvSpPr/>
          <p:nvPr/>
        </p:nvSpPr>
        <p:spPr>
          <a:xfrm>
            <a:off x="812800" y="1722041"/>
            <a:ext cx="2489200" cy="2092623"/>
          </a:xfrm>
          <a:custGeom>
            <a:avLst/>
            <a:gdLst/>
            <a:ahLst/>
            <a:cxnLst/>
            <a:rect l="l" t="t" r="r" b="b"/>
            <a:pathLst>
              <a:path w="2489200" h="2092623">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589A"/>
          </a:solidFill>
          <a:ln/>
        </p:spPr>
      </p:sp>
      <p:sp>
        <p:nvSpPr>
          <p:cNvPr id="5" name="Text 3"/>
          <p:cNvSpPr/>
          <p:nvPr/>
        </p:nvSpPr>
        <p:spPr>
          <a:xfrm>
            <a:off x="1066800" y="2026841"/>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901E"/>
                </a:solidFill>
                <a:latin typeface="Rubik" pitchFamily="34" charset="0"/>
                <a:ea typeface="Rubik" pitchFamily="34" charset="-122"/>
                <a:cs typeface="Rubik" pitchFamily="34" charset="-120"/>
              </a:rPr>
              <a:t>1</a:t>
            </a:r>
            <a:endParaRPr lang="en-US" sz="1600" dirty="0"/>
          </a:p>
        </p:txBody>
      </p:sp>
      <p:sp>
        <p:nvSpPr>
          <p:cNvPr id="6" name="Text 4"/>
          <p:cNvSpPr/>
          <p:nvPr/>
        </p:nvSpPr>
        <p:spPr>
          <a:xfrm>
            <a:off x="1066800" y="2412901"/>
            <a:ext cx="2040636"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589A"/>
                </a:solidFill>
                <a:latin typeface="Rubik" pitchFamily="34" charset="0"/>
                <a:ea typeface="Rubik" pitchFamily="34" charset="-122"/>
                <a:cs typeface="Rubik" pitchFamily="34" charset="-120"/>
              </a:rPr>
              <a:t>Pasta de trabalho</a:t>
            </a:r>
            <a:endParaRPr lang="en-US" sz="1800" dirty="0"/>
          </a:p>
        </p:txBody>
      </p:sp>
      <p:sp>
        <p:nvSpPr>
          <p:cNvPr id="7" name="Text 5"/>
          <p:cNvSpPr/>
          <p:nvPr/>
        </p:nvSpPr>
        <p:spPr>
          <a:xfrm>
            <a:off x="1066800" y="3062982"/>
            <a:ext cx="20406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Rubik" pitchFamily="34" charset="0"/>
                <a:ea typeface="Rubik" pitchFamily="34" charset="-122"/>
                <a:cs typeface="Rubik" pitchFamily="34" charset="-120"/>
              </a:rPr>
              <a:t>Você edita os arquivos do projeto.</a:t>
            </a:r>
            <a:endParaRPr lang="en-US" sz="1400" dirty="0"/>
          </a:p>
        </p:txBody>
      </p:sp>
      <p:sp>
        <p:nvSpPr>
          <p:cNvPr id="8" name="Shape 6"/>
          <p:cNvSpPr/>
          <p:nvPr/>
        </p:nvSpPr>
        <p:spPr>
          <a:xfrm>
            <a:off x="3505200" y="1722041"/>
            <a:ext cx="2489200" cy="2092623"/>
          </a:xfrm>
          <a:prstGeom prst="roundRect">
            <a:avLst>
              <a:gd name="adj" fmla="val 4855"/>
            </a:avLst>
          </a:prstGeom>
          <a:solidFill>
            <a:srgbClr val="F4F6F9"/>
          </a:solidFill>
          <a:ln/>
        </p:spPr>
      </p:sp>
      <p:sp>
        <p:nvSpPr>
          <p:cNvPr id="9" name="Shape 7"/>
          <p:cNvSpPr/>
          <p:nvPr/>
        </p:nvSpPr>
        <p:spPr>
          <a:xfrm>
            <a:off x="3505200" y="1722041"/>
            <a:ext cx="2489200" cy="2092623"/>
          </a:xfrm>
          <a:custGeom>
            <a:avLst/>
            <a:gdLst/>
            <a:ahLst/>
            <a:cxnLst/>
            <a:rect l="l" t="t" r="r" b="b"/>
            <a:pathLst>
              <a:path w="2489200" h="2092623">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589A"/>
          </a:solidFill>
          <a:ln/>
        </p:spPr>
      </p:sp>
      <p:sp>
        <p:nvSpPr>
          <p:cNvPr id="10" name="Text 8"/>
          <p:cNvSpPr/>
          <p:nvPr/>
        </p:nvSpPr>
        <p:spPr>
          <a:xfrm>
            <a:off x="3759200" y="2026841"/>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901E"/>
                </a:solidFill>
                <a:latin typeface="Rubik" pitchFamily="34" charset="0"/>
                <a:ea typeface="Rubik" pitchFamily="34" charset="-122"/>
                <a:cs typeface="Rubik" pitchFamily="34" charset="-120"/>
              </a:rPr>
              <a:t>2</a:t>
            </a:r>
            <a:endParaRPr lang="en-US" sz="1600" dirty="0"/>
          </a:p>
        </p:txBody>
      </p:sp>
      <p:sp>
        <p:nvSpPr>
          <p:cNvPr id="11" name="Text 9"/>
          <p:cNvSpPr/>
          <p:nvPr/>
        </p:nvSpPr>
        <p:spPr>
          <a:xfrm>
            <a:off x="3759200" y="2412901"/>
            <a:ext cx="20406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589A"/>
                </a:solidFill>
                <a:latin typeface="Rubik" pitchFamily="34" charset="0"/>
                <a:ea typeface="Rubik" pitchFamily="34" charset="-122"/>
                <a:cs typeface="Rubik" pitchFamily="34" charset="-120"/>
              </a:rPr>
              <a:t>Área de preparo</a:t>
            </a:r>
            <a:endParaRPr lang="en-US" sz="1800" dirty="0"/>
          </a:p>
        </p:txBody>
      </p:sp>
      <p:sp>
        <p:nvSpPr>
          <p:cNvPr id="12" name="Text 10"/>
          <p:cNvSpPr/>
          <p:nvPr/>
        </p:nvSpPr>
        <p:spPr>
          <a:xfrm>
            <a:off x="3759200" y="2788741"/>
            <a:ext cx="20406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Rubik" pitchFamily="34" charset="0"/>
                <a:ea typeface="Rubik" pitchFamily="34" charset="-122"/>
                <a:cs typeface="Rubik" pitchFamily="34" charset="-120"/>
              </a:rPr>
              <a:t>git add escolhe o que vai no próximo commit.</a:t>
            </a:r>
            <a:endParaRPr lang="en-US" sz="1400" dirty="0"/>
          </a:p>
        </p:txBody>
      </p:sp>
      <p:sp>
        <p:nvSpPr>
          <p:cNvPr id="13" name="Shape 11"/>
          <p:cNvSpPr/>
          <p:nvPr/>
        </p:nvSpPr>
        <p:spPr>
          <a:xfrm>
            <a:off x="6197600" y="1722041"/>
            <a:ext cx="2489200" cy="2092623"/>
          </a:xfrm>
          <a:prstGeom prst="roundRect">
            <a:avLst>
              <a:gd name="adj" fmla="val 4855"/>
            </a:avLst>
          </a:prstGeom>
          <a:solidFill>
            <a:srgbClr val="F4F6F9"/>
          </a:solidFill>
          <a:ln/>
        </p:spPr>
      </p:sp>
      <p:sp>
        <p:nvSpPr>
          <p:cNvPr id="14" name="Shape 12"/>
          <p:cNvSpPr/>
          <p:nvPr/>
        </p:nvSpPr>
        <p:spPr>
          <a:xfrm>
            <a:off x="6197600" y="1722041"/>
            <a:ext cx="2489200" cy="2092623"/>
          </a:xfrm>
          <a:custGeom>
            <a:avLst/>
            <a:gdLst/>
            <a:ahLst/>
            <a:cxnLst/>
            <a:rect l="l" t="t" r="r" b="b"/>
            <a:pathLst>
              <a:path w="2489200" h="2092623">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589A"/>
          </a:solidFill>
          <a:ln/>
        </p:spPr>
      </p:sp>
      <p:sp>
        <p:nvSpPr>
          <p:cNvPr id="15" name="Text 13"/>
          <p:cNvSpPr/>
          <p:nvPr/>
        </p:nvSpPr>
        <p:spPr>
          <a:xfrm>
            <a:off x="6451600" y="2026841"/>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901E"/>
                </a:solidFill>
                <a:latin typeface="Rubik" pitchFamily="34" charset="0"/>
                <a:ea typeface="Rubik" pitchFamily="34" charset="-122"/>
                <a:cs typeface="Rubik" pitchFamily="34" charset="-120"/>
              </a:rPr>
              <a:t>3</a:t>
            </a:r>
            <a:endParaRPr lang="en-US" sz="1600" dirty="0"/>
          </a:p>
        </p:txBody>
      </p:sp>
      <p:sp>
        <p:nvSpPr>
          <p:cNvPr id="16" name="Text 14"/>
          <p:cNvSpPr/>
          <p:nvPr/>
        </p:nvSpPr>
        <p:spPr>
          <a:xfrm>
            <a:off x="6451600" y="2412901"/>
            <a:ext cx="20406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589A"/>
                </a:solidFill>
                <a:latin typeface="Rubik" pitchFamily="34" charset="0"/>
                <a:ea typeface="Rubik" pitchFamily="34" charset="-122"/>
                <a:cs typeface="Rubik" pitchFamily="34" charset="-120"/>
              </a:rPr>
              <a:t>Repositório local</a:t>
            </a:r>
            <a:endParaRPr lang="en-US" sz="1800" dirty="0"/>
          </a:p>
        </p:txBody>
      </p:sp>
      <p:sp>
        <p:nvSpPr>
          <p:cNvPr id="17" name="Text 15"/>
          <p:cNvSpPr/>
          <p:nvPr/>
        </p:nvSpPr>
        <p:spPr>
          <a:xfrm>
            <a:off x="6451600" y="2788741"/>
            <a:ext cx="204063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Rubik" pitchFamily="34" charset="0"/>
                <a:ea typeface="Rubik" pitchFamily="34" charset="-122"/>
                <a:cs typeface="Rubik" pitchFamily="34" charset="-120"/>
              </a:rPr>
              <a:t>git commit registra as mudanças com uma mensagem.</a:t>
            </a:r>
            <a:endParaRPr lang="en-US" sz="1400" dirty="0"/>
          </a:p>
        </p:txBody>
      </p:sp>
      <p:sp>
        <p:nvSpPr>
          <p:cNvPr id="18" name="Shape 16"/>
          <p:cNvSpPr/>
          <p:nvPr/>
        </p:nvSpPr>
        <p:spPr>
          <a:xfrm>
            <a:off x="8890000" y="1722041"/>
            <a:ext cx="2489200" cy="2092623"/>
          </a:xfrm>
          <a:prstGeom prst="roundRect">
            <a:avLst>
              <a:gd name="adj" fmla="val 4855"/>
            </a:avLst>
          </a:prstGeom>
          <a:solidFill>
            <a:srgbClr val="F4F6F9"/>
          </a:solidFill>
          <a:ln/>
        </p:spPr>
      </p:sp>
      <p:sp>
        <p:nvSpPr>
          <p:cNvPr id="19" name="Shape 17"/>
          <p:cNvSpPr/>
          <p:nvPr/>
        </p:nvSpPr>
        <p:spPr>
          <a:xfrm>
            <a:off x="8890000" y="1722041"/>
            <a:ext cx="2489200" cy="2092623"/>
          </a:xfrm>
          <a:custGeom>
            <a:avLst/>
            <a:gdLst/>
            <a:ahLst/>
            <a:cxnLst/>
            <a:rect l="l" t="t" r="r" b="b"/>
            <a:pathLst>
              <a:path w="2489200" h="2092623">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F7901E"/>
          </a:solidFill>
          <a:ln/>
        </p:spPr>
      </p:sp>
      <p:sp>
        <p:nvSpPr>
          <p:cNvPr id="20" name="Text 18"/>
          <p:cNvSpPr/>
          <p:nvPr/>
        </p:nvSpPr>
        <p:spPr>
          <a:xfrm>
            <a:off x="9144000" y="2026841"/>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901E"/>
                </a:solidFill>
                <a:latin typeface="Rubik" pitchFamily="34" charset="0"/>
                <a:ea typeface="Rubik" pitchFamily="34" charset="-122"/>
                <a:cs typeface="Rubik" pitchFamily="34" charset="-120"/>
              </a:rPr>
              <a:t>4</a:t>
            </a:r>
            <a:endParaRPr lang="en-US" sz="1600" dirty="0"/>
          </a:p>
        </p:txBody>
      </p:sp>
      <p:sp>
        <p:nvSpPr>
          <p:cNvPr id="21" name="Text 19"/>
          <p:cNvSpPr/>
          <p:nvPr/>
        </p:nvSpPr>
        <p:spPr>
          <a:xfrm>
            <a:off x="9144000" y="2412901"/>
            <a:ext cx="20406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589A"/>
                </a:solidFill>
                <a:latin typeface="Rubik" pitchFamily="34" charset="0"/>
                <a:ea typeface="Rubik" pitchFamily="34" charset="-122"/>
                <a:cs typeface="Rubik" pitchFamily="34" charset="-120"/>
              </a:rPr>
              <a:t>GitHub</a:t>
            </a:r>
            <a:endParaRPr lang="en-US" sz="1800" dirty="0"/>
          </a:p>
        </p:txBody>
      </p:sp>
      <p:sp>
        <p:nvSpPr>
          <p:cNvPr id="22" name="Text 20"/>
          <p:cNvSpPr/>
          <p:nvPr/>
        </p:nvSpPr>
        <p:spPr>
          <a:xfrm>
            <a:off x="9144000" y="2788741"/>
            <a:ext cx="20406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Rubik" pitchFamily="34" charset="0"/>
                <a:ea typeface="Rubik" pitchFamily="34" charset="-122"/>
                <a:cs typeface="Rubik" pitchFamily="34" charset="-120"/>
              </a:rPr>
              <a:t>git push envia os commits para a nuvem.</a:t>
            </a:r>
            <a:endParaRPr lang="en-US" sz="1400" dirty="0"/>
          </a:p>
        </p:txBody>
      </p:sp>
      <p:sp>
        <p:nvSpPr>
          <p:cNvPr id="23" name="Text 21"/>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Instalar e configurar</a:t>
            </a:r>
            <a:endParaRPr lang="en-US" sz="3600" dirty="0"/>
          </a:p>
        </p:txBody>
      </p:sp>
      <p:sp>
        <p:nvSpPr>
          <p:cNvPr id="3" name="Text 1"/>
          <p:cNvSpPr/>
          <p:nvPr/>
        </p:nvSpPr>
        <p:spPr>
          <a:xfrm>
            <a:off x="812800" y="1569641"/>
            <a:ext cx="10883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901E"/>
                </a:solidFill>
                <a:latin typeface="Rubik" pitchFamily="34" charset="0"/>
                <a:ea typeface="Rubik" pitchFamily="34" charset="-122"/>
                <a:cs typeface="Rubik" pitchFamily="34" charset="-120"/>
              </a:rPr>
              <a:t>1. Verificar a instalação</a:t>
            </a:r>
            <a:endParaRPr lang="en-US" sz="2000" dirty="0"/>
          </a:p>
        </p:txBody>
      </p:sp>
      <p:sp>
        <p:nvSpPr>
          <p:cNvPr id="4" name="Text 2"/>
          <p:cNvSpPr/>
          <p:nvPr/>
        </p:nvSpPr>
        <p:spPr>
          <a:xfrm>
            <a:off x="812800" y="2128441"/>
            <a:ext cx="10566400" cy="726380"/>
          </a:xfrm>
          <a:prstGeom prst="roundRect">
            <a:avLst>
              <a:gd name="adj" fmla="val 13987"/>
            </a:avLst>
          </a:prstGeom>
          <a:solidFill>
            <a:srgbClr val="00365F"/>
          </a:solidFill>
          <a:ln/>
        </p:spPr>
        <p:txBody>
          <a:bodyPr wrap="square" lIns="224242" tIns="173442" rIns="0" bIns="148042" rtlCol="0" anchor="t">
            <a:normAutofit/>
          </a:bodyPr>
          <a:lstStyle/>
          <a:p>
            <a:pPr algn="l" indent="0" marL="0">
              <a:lnSpc>
                <a:spcPts val="2520"/>
              </a:lnSpc>
              <a:buNone/>
            </a:pPr>
            <a:r>
              <a:rPr lang="en-US" sz="1800" dirty="0">
                <a:solidFill>
                  <a:srgbClr val="FFFFFF"/>
                </a:solidFill>
                <a:latin typeface="Courier New" pitchFamily="49" charset="0"/>
                <a:ea typeface="Courier New" pitchFamily="49" charset="-122"/>
                <a:cs typeface="Courier New" pitchFamily="49" charset="-120"/>
              </a:rPr>
              <a:t>git --version</a:t>
            </a:r>
            <a:endParaRPr lang="en-US" sz="1800" dirty="0"/>
          </a:p>
        </p:txBody>
      </p:sp>
      <p:sp>
        <p:nvSpPr>
          <p:cNvPr id="5" name="Text 3"/>
          <p:cNvSpPr/>
          <p:nvPr/>
        </p:nvSpPr>
        <p:spPr>
          <a:xfrm>
            <a:off x="812800" y="3108821"/>
            <a:ext cx="10883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901E"/>
                </a:solidFill>
                <a:latin typeface="Rubik" pitchFamily="34" charset="0"/>
                <a:ea typeface="Rubik" pitchFamily="34" charset="-122"/>
                <a:cs typeface="Rubik" pitchFamily="34" charset="-120"/>
              </a:rPr>
              <a:t>2. Configurar sua identidade</a:t>
            </a:r>
            <a:endParaRPr lang="en-US" sz="2000" dirty="0"/>
          </a:p>
        </p:txBody>
      </p:sp>
      <p:sp>
        <p:nvSpPr>
          <p:cNvPr id="6" name="Shape 4"/>
          <p:cNvSpPr/>
          <p:nvPr/>
        </p:nvSpPr>
        <p:spPr>
          <a:xfrm>
            <a:off x="812800" y="3667621"/>
            <a:ext cx="10566400" cy="1122561"/>
          </a:xfrm>
          <a:prstGeom prst="roundRect">
            <a:avLst>
              <a:gd name="adj" fmla="val 9051"/>
            </a:avLst>
          </a:prstGeom>
          <a:solidFill>
            <a:srgbClr val="00365F"/>
          </a:solidFill>
          <a:ln/>
        </p:spPr>
      </p:sp>
      <p:sp>
        <p:nvSpPr>
          <p:cNvPr id="7" name="Text 5"/>
          <p:cNvSpPr/>
          <p:nvPr/>
        </p:nvSpPr>
        <p:spPr>
          <a:xfrm>
            <a:off x="1066800" y="3870821"/>
            <a:ext cx="1036015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Courier New" pitchFamily="49" charset="0"/>
                <a:ea typeface="Courier New" pitchFamily="49" charset="-122"/>
                <a:cs typeface="Courier New" pitchFamily="49" charset="-120"/>
              </a:rPr>
              <a:t>git config --global user.name "Seu Nome"</a:t>
            </a:r>
            <a:endParaRPr lang="en-US" sz="1800" dirty="0"/>
          </a:p>
        </p:txBody>
      </p:sp>
      <p:sp>
        <p:nvSpPr>
          <p:cNvPr id="8" name="Text 6"/>
          <p:cNvSpPr/>
          <p:nvPr/>
        </p:nvSpPr>
        <p:spPr>
          <a:xfrm>
            <a:off x="1066800" y="4267002"/>
            <a:ext cx="1036015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Courier New" pitchFamily="49" charset="0"/>
                <a:ea typeface="Courier New" pitchFamily="49" charset="-122"/>
                <a:cs typeface="Courier New" pitchFamily="49" charset="-120"/>
              </a:rPr>
              <a:t>git config --global user.email "seu@email.com"</a:t>
            </a:r>
            <a:endParaRPr lang="en-US" sz="1800" dirty="0"/>
          </a:p>
        </p:txBody>
      </p:sp>
      <p:sp>
        <p:nvSpPr>
          <p:cNvPr id="9" name="Text 7"/>
          <p:cNvSpPr/>
          <p:nvPr/>
        </p:nvSpPr>
        <p:spPr>
          <a:xfrm>
            <a:off x="812800" y="504418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6B7D"/>
                </a:solidFill>
                <a:latin typeface="Rubik" pitchFamily="34" charset="0"/>
                <a:ea typeface="Rubik" pitchFamily="34" charset="-122"/>
                <a:cs typeface="Rubik" pitchFamily="34" charset="-120"/>
              </a:rPr>
              <a:t>Use o mesmo e-mail da conta GitHub.</a:t>
            </a:r>
            <a:endParaRPr lang="en-US" sz="1600" dirty="0"/>
          </a:p>
        </p:txBody>
      </p:sp>
      <p:sp>
        <p:nvSpPr>
          <p:cNvPr id="10" name="Text 8"/>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Comandos do dia a dia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41"/>
          <a:ext cx="10553700" cy="3261519"/>
        </p:xfrm>
        <a:graphic>
          <a:graphicData uri="http://schemas.openxmlformats.org/drawingml/2006/table">
            <a:tbl>
              <a:tblPr/>
              <a:tblGrid>
                <a:gridCol w="4432554"/>
                <a:gridCol w="6121146"/>
              </a:tblGrid>
              <a:tr h="465931">
                <a:tc>
                  <a:txBody>
                    <a:bodyPr/>
                    <a:lstStyle/>
                    <a:p>
                      <a:pPr indent="0" marL="0">
                        <a:lnSpc>
                          <a:spcPts val="2380"/>
                        </a:lnSpc>
                        <a:buNone/>
                      </a:pPr>
                      <a:r>
                        <a:rPr lang="en-US" sz="1700" b="1" dirty="0">
                          <a:solidFill>
                            <a:srgbClr val="FFFFFF"/>
                          </a:solidFill>
                          <a:latin typeface="Rubik" pitchFamily="34" charset="0"/>
                          <a:ea typeface="Rubik" pitchFamily="34" charset="-122"/>
                          <a:cs typeface="Rubik" pitchFamily="34" charset="-120"/>
                        </a:rPr>
                        <a:t>Comando</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0449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497C"/>
                      </a:solidFill>
                      <a:prstDash val="solid"/>
                      <a:round/>
                      <a:headEnd type="none" w="med" len="med"/>
                      <a:tailEnd type="none" w="med" len="med"/>
                    </a:lnB>
                    <a:solidFill>
                      <a:srgbClr val="00589A"/>
                    </a:solidFill>
                  </a:tcPr>
                </a:tc>
                <a:tc>
                  <a:txBody>
                    <a:bodyPr/>
                    <a:lstStyle/>
                    <a:p>
                      <a:pPr indent="0" marL="0">
                        <a:lnSpc>
                          <a:spcPts val="2380"/>
                        </a:lnSpc>
                        <a:buNone/>
                      </a:pPr>
                      <a:r>
                        <a:rPr lang="en-US" sz="1700" b="1" dirty="0">
                          <a:solidFill>
                            <a:srgbClr val="FFFFFF"/>
                          </a:solidFill>
                          <a:latin typeface="Rubik" pitchFamily="34" charset="0"/>
                          <a:ea typeface="Rubik" pitchFamily="34" charset="-122"/>
                          <a:cs typeface="Rubik" pitchFamily="34" charset="-120"/>
                        </a:rPr>
                        <a:t>Função</a:t>
                      </a:r>
                      <a:endParaRPr lang="en-US" sz="1700" dirty="0">
                        <a:latin typeface="Rubik" charset="0"/>
                        <a:ea typeface="Rubik" charset="0"/>
                        <a:cs typeface="Rubik" charset="0"/>
                      </a:endParaRPr>
                    </a:p>
                  </a:txBody>
                  <a:tcPr marL="75565" marR="75565" marT="75565" marB="75565" anchor="t">
                    <a:lnL w="12700" cap="flat" cmpd="sng" algn="ctr">
                      <a:solidFill>
                        <a:srgbClr val="04497C"/>
                      </a:solidFill>
                      <a:prstDash val="solid"/>
                      <a:round/>
                      <a:headEnd type="none" w="med" len="med"/>
                      <a:tailEnd type="none" w="med" len="med"/>
                    </a:lnL>
                    <a:lnR w="12700" cap="flat" cmpd="sng" algn="ctr">
                      <a:solidFill>
                        <a:srgbClr val="04497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497C"/>
                      </a:solidFill>
                      <a:prstDash val="solid"/>
                      <a:round/>
                      <a:headEnd type="none" w="med" len="med"/>
                      <a:tailEnd type="none" w="med" len="med"/>
                    </a:lnB>
                    <a:solidFill>
                      <a:srgbClr val="00589A"/>
                    </a:solidFill>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init</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49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Cria um repositório na pasta atual</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497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status</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Mostra o que mudou</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add .</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Prepara todos os arquivos alterados</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commit -m "mensagem"</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Registra as mudanças preparadas</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log --oneline</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Lista o histórico de commits</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5931">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git diff</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380"/>
                        </a:lnSpc>
                        <a:buNone/>
                      </a:pPr>
                      <a:r>
                        <a:rPr lang="en-US" sz="1700" dirty="0">
                          <a:solidFill>
                            <a:srgbClr val="1B2A3A"/>
                          </a:solidFill>
                          <a:latin typeface="Rubik" pitchFamily="34" charset="0"/>
                          <a:ea typeface="Rubik" pitchFamily="34" charset="-122"/>
                          <a:cs typeface="Rubik" pitchFamily="34" charset="-120"/>
                        </a:rPr>
                        <a:t>Mostra as alterações ainda não preparadas</a:t>
                      </a:r>
                      <a:endParaRPr lang="en-US" sz="1700" dirty="0">
                        <a:latin typeface="Rubik" charset="0"/>
                        <a:ea typeface="Rubik" charset="0"/>
                        <a:cs typeface="Rubik"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Exemplo prático: do zero ao primeiro commit</a:t>
            </a:r>
            <a:endParaRPr lang="en-US" sz="3600" dirty="0"/>
          </a:p>
        </p:txBody>
      </p:sp>
      <p:sp>
        <p:nvSpPr>
          <p:cNvPr id="3" name="Shape 1"/>
          <p:cNvSpPr/>
          <p:nvPr/>
        </p:nvSpPr>
        <p:spPr>
          <a:xfrm>
            <a:off x="812800" y="1620441"/>
            <a:ext cx="10566400" cy="2880221"/>
          </a:xfrm>
          <a:prstGeom prst="roundRect">
            <a:avLst>
              <a:gd name="adj" fmla="val 3528"/>
            </a:avLst>
          </a:prstGeom>
          <a:solidFill>
            <a:srgbClr val="00365F"/>
          </a:solidFill>
          <a:ln/>
        </p:spPr>
      </p:sp>
      <p:sp>
        <p:nvSpPr>
          <p:cNvPr id="4" name="Text 2"/>
          <p:cNvSpPr/>
          <p:nvPr/>
        </p:nvSpPr>
        <p:spPr>
          <a:xfrm>
            <a:off x="1066800" y="187444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mkdir meu-projeto</a:t>
            </a:r>
            <a:endParaRPr lang="en-US" sz="1600" dirty="0"/>
          </a:p>
        </p:txBody>
      </p:sp>
      <p:sp>
        <p:nvSpPr>
          <p:cNvPr id="5" name="Text 3"/>
          <p:cNvSpPr/>
          <p:nvPr/>
        </p:nvSpPr>
        <p:spPr>
          <a:xfrm>
            <a:off x="1066800" y="222240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cd meu-projeto</a:t>
            </a:r>
            <a:endParaRPr lang="en-US" sz="1600" dirty="0"/>
          </a:p>
        </p:txBody>
      </p:sp>
      <p:sp>
        <p:nvSpPr>
          <p:cNvPr id="6" name="Text 4"/>
          <p:cNvSpPr/>
          <p:nvPr/>
        </p:nvSpPr>
        <p:spPr>
          <a:xfrm>
            <a:off x="1066800" y="257036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init</a:t>
            </a:r>
            <a:endParaRPr lang="en-US" sz="1600" dirty="0"/>
          </a:p>
        </p:txBody>
      </p:sp>
      <p:sp>
        <p:nvSpPr>
          <p:cNvPr id="7" name="Text 5"/>
          <p:cNvSpPr/>
          <p:nvPr/>
        </p:nvSpPr>
        <p:spPr>
          <a:xfrm>
            <a:off x="1066800" y="291832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echo "Olá, Git" &gt; README.md</a:t>
            </a:r>
            <a:endParaRPr lang="en-US" sz="1600" dirty="0"/>
          </a:p>
        </p:txBody>
      </p:sp>
      <p:sp>
        <p:nvSpPr>
          <p:cNvPr id="8" name="Text 6"/>
          <p:cNvSpPr/>
          <p:nvPr/>
        </p:nvSpPr>
        <p:spPr>
          <a:xfrm>
            <a:off x="1066800" y="326628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add README.md</a:t>
            </a:r>
            <a:endParaRPr lang="en-US" sz="1600" dirty="0"/>
          </a:p>
        </p:txBody>
      </p:sp>
      <p:sp>
        <p:nvSpPr>
          <p:cNvPr id="9" name="Text 7"/>
          <p:cNvSpPr/>
          <p:nvPr/>
        </p:nvSpPr>
        <p:spPr>
          <a:xfrm>
            <a:off x="1066800" y="361424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commit -m "Primeiro commit"</a:t>
            </a:r>
            <a:endParaRPr lang="en-US" sz="1600" dirty="0"/>
          </a:p>
        </p:txBody>
      </p:sp>
      <p:sp>
        <p:nvSpPr>
          <p:cNvPr id="10" name="Text 8"/>
          <p:cNvSpPr/>
          <p:nvPr/>
        </p:nvSpPr>
        <p:spPr>
          <a:xfrm>
            <a:off x="1066800" y="3962202"/>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901E"/>
                </a:solidFill>
                <a:latin typeface="Courier New" pitchFamily="49" charset="0"/>
                <a:ea typeface="Courier New" pitchFamily="49" charset="-122"/>
                <a:cs typeface="Courier New" pitchFamily="49" charset="-120"/>
              </a:rPr>
              <a:t>git log --oneline</a:t>
            </a:r>
            <a:endParaRPr lang="en-US" sz="1600" dirty="0"/>
          </a:p>
        </p:txBody>
      </p:sp>
      <p:sp>
        <p:nvSpPr>
          <p:cNvPr id="11" name="Text 9"/>
          <p:cNvSpPr/>
          <p:nvPr/>
        </p:nvSpPr>
        <p:spPr>
          <a:xfrm>
            <a:off x="812800" y="48054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6B7D"/>
                </a:solidFill>
                <a:latin typeface="Rubik" pitchFamily="34" charset="0"/>
                <a:ea typeface="Rubik" pitchFamily="34" charset="-122"/>
                <a:cs typeface="Rubik" pitchFamily="34" charset="-120"/>
              </a:rPr>
              <a:t>Cada comando tem uma saída que vale a pena mostrar na tela.</a:t>
            </a:r>
            <a:endParaRPr lang="en-US" sz="1600" dirty="0"/>
          </a:p>
        </p:txBody>
      </p:sp>
      <p:sp>
        <p:nvSpPr>
          <p:cNvPr id="12" name="Text 10"/>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Branches: trabalhar sem afetar a main</a:t>
            </a:r>
            <a:endParaRPr lang="en-US" sz="3600" dirty="0"/>
          </a:p>
        </p:txBody>
      </p:sp>
      <p:sp>
        <p:nvSpPr>
          <p:cNvPr id="3" name="Shape 1"/>
          <p:cNvSpPr/>
          <p:nvPr/>
        </p:nvSpPr>
        <p:spPr>
          <a:xfrm>
            <a:off x="812800" y="1671241"/>
            <a:ext cx="5181600" cy="2821880"/>
          </a:xfrm>
          <a:prstGeom prst="roundRect">
            <a:avLst>
              <a:gd name="adj" fmla="val 3600"/>
            </a:avLst>
          </a:prstGeom>
          <a:solidFill>
            <a:srgbClr val="F4F6F9"/>
          </a:solidFill>
          <a:ln/>
        </p:spPr>
      </p:sp>
      <p:sp>
        <p:nvSpPr>
          <p:cNvPr id="4" name="Shape 2"/>
          <p:cNvSpPr/>
          <p:nvPr/>
        </p:nvSpPr>
        <p:spPr>
          <a:xfrm>
            <a:off x="812800" y="1671241"/>
            <a:ext cx="5181600" cy="2821880"/>
          </a:xfrm>
          <a:custGeom>
            <a:avLst/>
            <a:gdLst/>
            <a:ahLst/>
            <a:cxnLst/>
            <a:rect l="l" t="t" r="r" b="b"/>
            <a:pathLst>
              <a:path w="5181600" h="282188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0589A"/>
          </a:solidFill>
          <a:ln/>
        </p:spPr>
      </p:sp>
      <p:sp>
        <p:nvSpPr>
          <p:cNvPr id="5" name="Text 3"/>
          <p:cNvSpPr/>
          <p:nvPr/>
        </p:nvSpPr>
        <p:spPr>
          <a:xfrm>
            <a:off x="1066800" y="19760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589A"/>
                </a:solidFill>
                <a:latin typeface="Rubik" pitchFamily="34" charset="0"/>
                <a:ea typeface="Rubik" pitchFamily="34" charset="-122"/>
                <a:cs typeface="Rubik" pitchFamily="34" charset="-120"/>
              </a:rPr>
              <a:t>Criar e trocar</a:t>
            </a:r>
            <a:endParaRPr lang="en-US" sz="2000" dirty="0"/>
          </a:p>
        </p:txBody>
      </p:sp>
      <p:sp>
        <p:nvSpPr>
          <p:cNvPr id="6" name="Text 4"/>
          <p:cNvSpPr/>
          <p:nvPr/>
        </p:nvSpPr>
        <p:spPr>
          <a:xfrm>
            <a:off x="1066800" y="2433241"/>
            <a:ext cx="4673600" cy="690860"/>
          </a:xfrm>
          <a:prstGeom prst="roundRect">
            <a:avLst>
              <a:gd name="adj" fmla="val 11030"/>
            </a:avLst>
          </a:prstGeom>
          <a:solidFill>
            <a:srgbClr val="00365F"/>
          </a:solidFill>
          <a:ln/>
        </p:spPr>
        <p:txBody>
          <a:bodyPr wrap="square" lIns="180882" tIns="180882" rIns="52866" bIns="155482"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switch -c nova-tela</a:t>
            </a:r>
            <a:endParaRPr lang="en-US" sz="1600" dirty="0"/>
          </a:p>
        </p:txBody>
      </p:sp>
      <p:sp>
        <p:nvSpPr>
          <p:cNvPr id="7" name="Text 5"/>
          <p:cNvSpPr/>
          <p:nvPr/>
        </p:nvSpPr>
        <p:spPr>
          <a:xfrm>
            <a:off x="1066800" y="3276501"/>
            <a:ext cx="48138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A6B7D"/>
                </a:solidFill>
                <a:latin typeface="Rubik" pitchFamily="34" charset="0"/>
                <a:ea typeface="Rubik" pitchFamily="34" charset="-122"/>
                <a:cs typeface="Rubik" pitchFamily="34" charset="-120"/>
              </a:rPr>
              <a:t>Cria a branch e já muda para ela.</a:t>
            </a:r>
            <a:endParaRPr lang="en-US" sz="1500" dirty="0"/>
          </a:p>
        </p:txBody>
      </p:sp>
      <p:sp>
        <p:nvSpPr>
          <p:cNvPr id="8" name="Shape 6"/>
          <p:cNvSpPr/>
          <p:nvPr/>
        </p:nvSpPr>
        <p:spPr>
          <a:xfrm>
            <a:off x="6197600" y="1671241"/>
            <a:ext cx="5181600" cy="2821880"/>
          </a:xfrm>
          <a:prstGeom prst="roundRect">
            <a:avLst>
              <a:gd name="adj" fmla="val 3600"/>
            </a:avLst>
          </a:prstGeom>
          <a:solidFill>
            <a:srgbClr val="F4F6F9"/>
          </a:solidFill>
          <a:ln/>
        </p:spPr>
      </p:sp>
      <p:sp>
        <p:nvSpPr>
          <p:cNvPr id="9" name="Shape 7"/>
          <p:cNvSpPr/>
          <p:nvPr/>
        </p:nvSpPr>
        <p:spPr>
          <a:xfrm>
            <a:off x="6197600" y="1671241"/>
            <a:ext cx="5181600" cy="2821880"/>
          </a:xfrm>
          <a:custGeom>
            <a:avLst/>
            <a:gdLst/>
            <a:ahLst/>
            <a:cxnLst/>
            <a:rect l="l" t="t" r="r" b="b"/>
            <a:pathLst>
              <a:path w="5181600" h="282188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7901E"/>
          </a:solidFill>
          <a:ln/>
        </p:spPr>
      </p:sp>
      <p:sp>
        <p:nvSpPr>
          <p:cNvPr id="10" name="Text 8"/>
          <p:cNvSpPr/>
          <p:nvPr/>
        </p:nvSpPr>
        <p:spPr>
          <a:xfrm>
            <a:off x="6451600" y="19760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589A"/>
                </a:solidFill>
                <a:latin typeface="Rubik" pitchFamily="34" charset="0"/>
                <a:ea typeface="Rubik" pitchFamily="34" charset="-122"/>
                <a:cs typeface="Rubik" pitchFamily="34" charset="-120"/>
              </a:rPr>
              <a:t>Unir e apagar</a:t>
            </a:r>
            <a:endParaRPr lang="en-US" sz="2000" dirty="0"/>
          </a:p>
        </p:txBody>
      </p:sp>
      <p:sp>
        <p:nvSpPr>
          <p:cNvPr id="11" name="Shape 9"/>
          <p:cNvSpPr/>
          <p:nvPr/>
        </p:nvSpPr>
        <p:spPr>
          <a:xfrm>
            <a:off x="6451600" y="2433241"/>
            <a:ext cx="4673600" cy="1386780"/>
          </a:xfrm>
          <a:prstGeom prst="roundRect">
            <a:avLst>
              <a:gd name="adj" fmla="val 5495"/>
            </a:avLst>
          </a:prstGeom>
          <a:solidFill>
            <a:srgbClr val="00365F"/>
          </a:solidFill>
          <a:ln/>
        </p:spPr>
      </p:sp>
      <p:sp>
        <p:nvSpPr>
          <p:cNvPr id="12" name="Text 10"/>
          <p:cNvSpPr/>
          <p:nvPr/>
        </p:nvSpPr>
        <p:spPr>
          <a:xfrm>
            <a:off x="6654800" y="2636441"/>
            <a:ext cx="43952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switch main</a:t>
            </a:r>
            <a:endParaRPr lang="en-US" sz="1600" dirty="0"/>
          </a:p>
        </p:txBody>
      </p:sp>
      <p:sp>
        <p:nvSpPr>
          <p:cNvPr id="13" name="Text 11"/>
          <p:cNvSpPr/>
          <p:nvPr/>
        </p:nvSpPr>
        <p:spPr>
          <a:xfrm>
            <a:off x="6654800" y="2984401"/>
            <a:ext cx="43952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merge nova-tela</a:t>
            </a:r>
            <a:endParaRPr lang="en-US" sz="1600" dirty="0"/>
          </a:p>
        </p:txBody>
      </p:sp>
      <p:sp>
        <p:nvSpPr>
          <p:cNvPr id="14" name="Text 12"/>
          <p:cNvSpPr/>
          <p:nvPr/>
        </p:nvSpPr>
        <p:spPr>
          <a:xfrm>
            <a:off x="6654800" y="3332361"/>
            <a:ext cx="43952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branch -d nova-tela</a:t>
            </a:r>
            <a:endParaRPr lang="en-US" sz="1600" dirty="0"/>
          </a:p>
        </p:txBody>
      </p:sp>
      <p:sp>
        <p:nvSpPr>
          <p:cNvPr id="15" name="Text 13"/>
          <p:cNvSpPr/>
          <p:nvPr/>
        </p:nvSpPr>
        <p:spPr>
          <a:xfrm>
            <a:off x="6451600" y="3972421"/>
            <a:ext cx="48138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A6B7D"/>
                </a:solidFill>
                <a:latin typeface="Rubik" pitchFamily="34" charset="0"/>
                <a:ea typeface="Rubik" pitchFamily="34" charset="-122"/>
                <a:cs typeface="Rubik" pitchFamily="34" charset="-120"/>
              </a:rPr>
              <a:t>Volte para a main, una e apague a branch.</a:t>
            </a:r>
            <a:endParaRPr lang="en-US" sz="1500" dirty="0"/>
          </a:p>
        </p:txBody>
      </p:sp>
      <p:sp>
        <p:nvSpPr>
          <p:cNvPr id="16" name="Text 14"/>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Conflitos de merge</a:t>
            </a:r>
            <a:endParaRPr lang="en-US" sz="3600" dirty="0"/>
          </a:p>
        </p:txBody>
      </p:sp>
      <p:sp>
        <p:nvSpPr>
          <p:cNvPr id="3" name="Text 1"/>
          <p:cNvSpPr/>
          <p:nvPr/>
        </p:nvSpPr>
        <p:spPr>
          <a:xfrm>
            <a:off x="812800" y="162044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A6B7D"/>
                </a:solidFill>
                <a:latin typeface="Rubik" pitchFamily="34" charset="0"/>
                <a:ea typeface="Rubik" pitchFamily="34" charset="-122"/>
                <a:cs typeface="Rubik" pitchFamily="34" charset="-120"/>
              </a:rPr>
              <a:t>Dois colegas alteraram a mesma linha. O Git para e marca o trecho no arquivo.</a:t>
            </a:r>
            <a:endParaRPr lang="en-US" sz="1700" dirty="0"/>
          </a:p>
        </p:txBody>
      </p:sp>
      <p:sp>
        <p:nvSpPr>
          <p:cNvPr id="4" name="Shape 2"/>
          <p:cNvSpPr/>
          <p:nvPr/>
        </p:nvSpPr>
        <p:spPr>
          <a:xfrm>
            <a:off x="812800" y="2227461"/>
            <a:ext cx="10566400" cy="2184301"/>
          </a:xfrm>
          <a:prstGeom prst="roundRect">
            <a:avLst>
              <a:gd name="adj" fmla="val 4651"/>
            </a:avLst>
          </a:prstGeom>
          <a:solidFill>
            <a:srgbClr val="00365F"/>
          </a:solidFill>
          <a:ln/>
        </p:spPr>
      </p:sp>
      <p:sp>
        <p:nvSpPr>
          <p:cNvPr id="5" name="Text 3"/>
          <p:cNvSpPr/>
          <p:nvPr/>
        </p:nvSpPr>
        <p:spPr>
          <a:xfrm>
            <a:off x="1066800" y="248146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901E"/>
                </a:solidFill>
                <a:latin typeface="Courier New" pitchFamily="49" charset="0"/>
                <a:ea typeface="Courier New" pitchFamily="49" charset="-122"/>
                <a:cs typeface="Courier New" pitchFamily="49" charset="-120"/>
              </a:rPr>
              <a:t>&lt;&lt;&lt;&lt;&lt;&lt;&lt; HEAD</a:t>
            </a:r>
            <a:endParaRPr lang="en-US" sz="1600" dirty="0"/>
          </a:p>
        </p:txBody>
      </p:sp>
      <p:sp>
        <p:nvSpPr>
          <p:cNvPr id="6" name="Text 4"/>
          <p:cNvSpPr/>
          <p:nvPr/>
        </p:nvSpPr>
        <p:spPr>
          <a:xfrm>
            <a:off x="1066800" y="282942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texto da branch main</a:t>
            </a:r>
            <a:endParaRPr lang="en-US" sz="1600" dirty="0"/>
          </a:p>
        </p:txBody>
      </p:sp>
      <p:sp>
        <p:nvSpPr>
          <p:cNvPr id="7" name="Text 5"/>
          <p:cNvSpPr/>
          <p:nvPr/>
        </p:nvSpPr>
        <p:spPr>
          <a:xfrm>
            <a:off x="1066800" y="317738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a:t>
            </a:r>
            <a:endParaRPr lang="en-US" sz="1600" dirty="0"/>
          </a:p>
        </p:txBody>
      </p:sp>
      <p:sp>
        <p:nvSpPr>
          <p:cNvPr id="8" name="Text 6"/>
          <p:cNvSpPr/>
          <p:nvPr/>
        </p:nvSpPr>
        <p:spPr>
          <a:xfrm>
            <a:off x="1066800" y="352534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texto da branch nova-tela</a:t>
            </a:r>
            <a:endParaRPr lang="en-US" sz="1600" dirty="0"/>
          </a:p>
        </p:txBody>
      </p:sp>
      <p:sp>
        <p:nvSpPr>
          <p:cNvPr id="9" name="Text 7"/>
          <p:cNvSpPr/>
          <p:nvPr/>
        </p:nvSpPr>
        <p:spPr>
          <a:xfrm>
            <a:off x="1066800" y="3873302"/>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901E"/>
                </a:solidFill>
                <a:latin typeface="Courier New" pitchFamily="49" charset="0"/>
                <a:ea typeface="Courier New" pitchFamily="49" charset="-122"/>
                <a:cs typeface="Courier New" pitchFamily="49" charset="-120"/>
              </a:rPr>
              <a:t>&gt;&gt;&gt;&gt;&gt;&gt;&gt; nova-tela</a:t>
            </a:r>
            <a:endParaRPr lang="en-US" sz="1600" dirty="0"/>
          </a:p>
        </p:txBody>
      </p:sp>
      <p:sp>
        <p:nvSpPr>
          <p:cNvPr id="10" name="Text 8"/>
          <p:cNvSpPr/>
          <p:nvPr/>
        </p:nvSpPr>
        <p:spPr>
          <a:xfrm>
            <a:off x="812800" y="4716562"/>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B2A3A"/>
                </a:solidFill>
                <a:latin typeface="Rubik" pitchFamily="34" charset="0"/>
                <a:ea typeface="Rubik" pitchFamily="34" charset="-122"/>
                <a:cs typeface="Rubik" pitchFamily="34" charset="-120"/>
              </a:rPr>
              <a:t>Como resolver:</a:t>
            </a:r>
            <a:r>
              <a:rPr lang="en-US" sz="1700" dirty="0">
                <a:solidFill>
                  <a:srgbClr val="1B2A3A"/>
                </a:solidFill>
                <a:latin typeface="Rubik" pitchFamily="34" charset="0"/>
                <a:ea typeface="Rubik" pitchFamily="34" charset="-122"/>
                <a:cs typeface="Rubik" pitchFamily="34" charset="-120"/>
              </a:rPr>
              <a:t> escolha o texto certo, apague as marcações, depois faça </a:t>
            </a:r>
            <a:r>
              <a:rPr lang="en-US" sz="1700" b="1" dirty="0">
                <a:solidFill>
                  <a:srgbClr val="1B2A3A"/>
                </a:solidFill>
                <a:latin typeface="Rubik" pitchFamily="34" charset="0"/>
                <a:ea typeface="Rubik" pitchFamily="34" charset="-122"/>
                <a:cs typeface="Rubik" pitchFamily="34" charset="-120"/>
              </a:rPr>
              <a:t>git add</a:t>
            </a:r>
            <a:r>
              <a:rPr lang="en-US" sz="1700" dirty="0">
                <a:solidFill>
                  <a:srgbClr val="1B2A3A"/>
                </a:solidFill>
                <a:latin typeface="Rubik" pitchFamily="34" charset="0"/>
                <a:ea typeface="Rubik" pitchFamily="34" charset="-122"/>
                <a:cs typeface="Rubik" pitchFamily="34" charset="-120"/>
              </a:rPr>
              <a:t> e </a:t>
            </a:r>
            <a:r>
              <a:rPr lang="en-US" sz="1700" b="1" dirty="0">
                <a:solidFill>
                  <a:srgbClr val="1B2A3A"/>
                </a:solidFill>
                <a:latin typeface="Rubik" pitchFamily="34" charset="0"/>
                <a:ea typeface="Rubik" pitchFamily="34" charset="-122"/>
                <a:cs typeface="Rubik" pitchFamily="34" charset="-120"/>
              </a:rPr>
              <a:t>git commit</a:t>
            </a:r>
            <a:r>
              <a:rPr lang="en-US" sz="1700" dirty="0">
                <a:solidFill>
                  <a:srgbClr val="1B2A3A"/>
                </a:solidFill>
                <a:latin typeface="Rubik" pitchFamily="34" charset="0"/>
                <a:ea typeface="Rubik" pitchFamily="34" charset="-122"/>
                <a:cs typeface="Rubik" pitchFamily="34" charset="-120"/>
              </a:rPr>
              <a:t>.</a:t>
            </a:r>
            <a:endParaRPr lang="en-US" sz="1700" dirty="0"/>
          </a:p>
        </p:txBody>
      </p:sp>
      <p:sp>
        <p:nvSpPr>
          <p:cNvPr id="11" name="Text 9"/>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589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Rubik" pitchFamily="34" charset="0"/>
                <a:ea typeface="Rubik" pitchFamily="34" charset="-122"/>
                <a:cs typeface="Rubik" pitchFamily="34" charset="-120"/>
              </a:rPr>
              <a:t>Trabalho em grupo: clonar o projeto</a:t>
            </a:r>
            <a:endParaRPr lang="en-US" sz="3600" dirty="0"/>
          </a:p>
        </p:txBody>
      </p:sp>
      <p:sp>
        <p:nvSpPr>
          <p:cNvPr id="3" name="Text 1"/>
          <p:cNvSpPr/>
          <p:nvPr/>
        </p:nvSpPr>
        <p:spPr>
          <a:xfrm>
            <a:off x="812800" y="162044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Rubik" pitchFamily="34" charset="0"/>
                <a:ea typeface="Rubik" pitchFamily="34" charset="-122"/>
                <a:cs typeface="Rubik" pitchFamily="34" charset="-120"/>
              </a:rPr>
              <a:t>O líder cria o repositório no GitHub. Cada aluno copia para o próprio computador.</a:t>
            </a:r>
            <a:endParaRPr lang="en-US" sz="1700" dirty="0"/>
          </a:p>
        </p:txBody>
      </p:sp>
      <p:sp>
        <p:nvSpPr>
          <p:cNvPr id="4" name="Shape 2"/>
          <p:cNvSpPr/>
          <p:nvPr/>
        </p:nvSpPr>
        <p:spPr>
          <a:xfrm>
            <a:off x="812800" y="2227461"/>
            <a:ext cx="10566400" cy="1567061"/>
          </a:xfrm>
          <a:prstGeom prst="roundRect">
            <a:avLst>
              <a:gd name="adj" fmla="val 6483"/>
            </a:avLst>
          </a:prstGeom>
          <a:solidFill>
            <a:srgbClr val="00365F"/>
          </a:solidFill>
          <a:ln/>
        </p:spPr>
      </p:sp>
      <p:sp>
        <p:nvSpPr>
          <p:cNvPr id="5" name="Shape 3"/>
          <p:cNvSpPr/>
          <p:nvPr/>
        </p:nvSpPr>
        <p:spPr>
          <a:xfrm>
            <a:off x="812800" y="2227461"/>
            <a:ext cx="10566400" cy="1567061"/>
          </a:xfrm>
          <a:custGeom>
            <a:avLst/>
            <a:gdLst/>
            <a:ahLst/>
            <a:cxnLst/>
            <a:rect l="l" t="t" r="r" b="b"/>
            <a:pathLst>
              <a:path w="10566400" h="1567061">
                <a:moveTo>
                  <a:pt x="101600" y="1567061"/>
                </a:moveTo>
                <a:lnTo>
                  <a:pt x="101600" y="1567061"/>
                </a:lnTo>
                <a:arcTo hR="101600" wR="101600" stAng="5400000" swAng="5400000"/>
                <a:lnTo>
                  <a:pt x="0" y="101600"/>
                </a:lnTo>
                <a:arcTo hR="101600" wR="101600" stAng="10800000" swAng="5400000"/>
                <a:lnTo>
                  <a:pt x="101600" y="0"/>
                </a:lnTo>
                <a:arcTo hR="101600" wR="38100" stAng="16200000" swAng="-5400000"/>
                <a:lnTo>
                  <a:pt x="63500" y="1465461"/>
                </a:lnTo>
                <a:arcTo hR="101600" wR="38100" stAng="10800000" swAng="-5400000"/>
                <a:close/>
              </a:path>
            </a:pathLst>
          </a:custGeom>
          <a:solidFill>
            <a:srgbClr val="F7901E"/>
          </a:solidFill>
          <a:ln/>
        </p:spPr>
      </p:sp>
      <p:sp>
        <p:nvSpPr>
          <p:cNvPr id="6" name="Text 4"/>
          <p:cNvSpPr/>
          <p:nvPr/>
        </p:nvSpPr>
        <p:spPr>
          <a:xfrm>
            <a:off x="1130300" y="2481461"/>
            <a:ext cx="10294747"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ourier New" pitchFamily="49" charset="0"/>
                <a:ea typeface="Courier New" pitchFamily="49" charset="-122"/>
                <a:cs typeface="Courier New" pitchFamily="49" charset="-120"/>
              </a:rPr>
              <a:t>git clone https://github.com/grupo/projeto.git</a:t>
            </a:r>
            <a:endParaRPr lang="en-US" sz="1700" dirty="0"/>
          </a:p>
        </p:txBody>
      </p:sp>
      <p:sp>
        <p:nvSpPr>
          <p:cNvPr id="7" name="Text 5"/>
          <p:cNvSpPr/>
          <p:nvPr/>
        </p:nvSpPr>
        <p:spPr>
          <a:xfrm>
            <a:off x="1130300" y="2859881"/>
            <a:ext cx="10294747"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ourier New" pitchFamily="49" charset="0"/>
                <a:ea typeface="Courier New" pitchFamily="49" charset="-122"/>
                <a:cs typeface="Courier New" pitchFamily="49" charset="-120"/>
              </a:rPr>
              <a:t>cd projeto</a:t>
            </a:r>
            <a:endParaRPr lang="en-US" sz="1700" dirty="0"/>
          </a:p>
        </p:txBody>
      </p:sp>
      <p:sp>
        <p:nvSpPr>
          <p:cNvPr id="8" name="Text 6"/>
          <p:cNvSpPr/>
          <p:nvPr/>
        </p:nvSpPr>
        <p:spPr>
          <a:xfrm>
            <a:off x="1130300" y="3238302"/>
            <a:ext cx="10294747"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Courier New" pitchFamily="49" charset="0"/>
                <a:ea typeface="Courier New" pitchFamily="49" charset="-122"/>
                <a:cs typeface="Courier New" pitchFamily="49" charset="-120"/>
              </a:rPr>
              <a:t>git switch -c feature-seu-nome</a:t>
            </a:r>
            <a:endParaRPr lang="en-US" sz="1700" dirty="0"/>
          </a:p>
        </p:txBody>
      </p:sp>
      <p:sp>
        <p:nvSpPr>
          <p:cNvPr id="9" name="Text 7"/>
          <p:cNvSpPr/>
          <p:nvPr/>
        </p:nvSpPr>
        <p:spPr>
          <a:xfrm>
            <a:off x="812800" y="4099322"/>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Rubik" pitchFamily="34" charset="0"/>
                <a:ea typeface="Rubik" pitchFamily="34" charset="-122"/>
                <a:cs typeface="Rubik" pitchFamily="34" charset="-120"/>
              </a:rPr>
              <a:t>Cada integrante trabalha na própria branch, sem mexer na main.</a:t>
            </a:r>
            <a:endParaRPr lang="en-US" sz="1700" dirty="0"/>
          </a:p>
        </p:txBody>
      </p:sp>
      <p:sp>
        <p:nvSpPr>
          <p:cNvPr id="10" name="Text 8"/>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Enviar e receber mudanças</a:t>
            </a:r>
            <a:endParaRPr lang="en-US" sz="3600" dirty="0"/>
          </a:p>
        </p:txBody>
      </p:sp>
      <p:sp>
        <p:nvSpPr>
          <p:cNvPr id="3" name="Shape 1"/>
          <p:cNvSpPr/>
          <p:nvPr/>
        </p:nvSpPr>
        <p:spPr>
          <a:xfrm>
            <a:off x="812800" y="1620441"/>
            <a:ext cx="5181600" cy="2758380"/>
          </a:xfrm>
          <a:prstGeom prst="roundRect">
            <a:avLst>
              <a:gd name="adj" fmla="val 3683"/>
            </a:avLst>
          </a:prstGeom>
          <a:solidFill>
            <a:srgbClr val="F4F6F9"/>
          </a:solidFill>
          <a:ln/>
        </p:spPr>
      </p:sp>
      <p:sp>
        <p:nvSpPr>
          <p:cNvPr id="4" name="Shape 2"/>
          <p:cNvSpPr/>
          <p:nvPr/>
        </p:nvSpPr>
        <p:spPr>
          <a:xfrm>
            <a:off x="812800" y="1620441"/>
            <a:ext cx="5181600" cy="2758380"/>
          </a:xfrm>
          <a:custGeom>
            <a:avLst/>
            <a:gdLst/>
            <a:ahLst/>
            <a:cxnLst/>
            <a:rect l="l" t="t" r="r" b="b"/>
            <a:pathLst>
              <a:path w="5181600" h="275838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0589A"/>
          </a:solidFill>
          <a:ln/>
        </p:spPr>
      </p:sp>
      <p:sp>
        <p:nvSpPr>
          <p:cNvPr id="5" name="Text 3"/>
          <p:cNvSpPr/>
          <p:nvPr/>
        </p:nvSpPr>
        <p:spPr>
          <a:xfrm>
            <a:off x="1066800" y="19252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589A"/>
                </a:solidFill>
                <a:latin typeface="Rubik" pitchFamily="34" charset="0"/>
                <a:ea typeface="Rubik" pitchFamily="34" charset="-122"/>
                <a:cs typeface="Rubik" pitchFamily="34" charset="-120"/>
              </a:rPr>
              <a:t>Enviar: git push</a:t>
            </a:r>
            <a:endParaRPr lang="en-US" sz="2000" dirty="0"/>
          </a:p>
        </p:txBody>
      </p:sp>
      <p:sp>
        <p:nvSpPr>
          <p:cNvPr id="6" name="Shape 4"/>
          <p:cNvSpPr/>
          <p:nvPr/>
        </p:nvSpPr>
        <p:spPr>
          <a:xfrm>
            <a:off x="1066800" y="2382441"/>
            <a:ext cx="4673600" cy="1323280"/>
          </a:xfrm>
          <a:prstGeom prst="roundRect">
            <a:avLst>
              <a:gd name="adj" fmla="val 5758"/>
            </a:avLst>
          </a:prstGeom>
          <a:solidFill>
            <a:srgbClr val="00365F"/>
          </a:solidFill>
          <a:ln/>
        </p:spPr>
      </p:sp>
      <p:sp>
        <p:nvSpPr>
          <p:cNvPr id="7" name="Text 5"/>
          <p:cNvSpPr/>
          <p:nvPr/>
        </p:nvSpPr>
        <p:spPr>
          <a:xfrm>
            <a:off x="1270000" y="2585641"/>
            <a:ext cx="439521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push -u origin feature-seu-nome</a:t>
            </a:r>
            <a:endParaRPr lang="en-US" sz="1600" dirty="0"/>
          </a:p>
        </p:txBody>
      </p:sp>
      <p:sp>
        <p:nvSpPr>
          <p:cNvPr id="8" name="Text 6"/>
          <p:cNvSpPr/>
          <p:nvPr/>
        </p:nvSpPr>
        <p:spPr>
          <a:xfrm>
            <a:off x="1270000" y="3218061"/>
            <a:ext cx="43952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push</a:t>
            </a:r>
            <a:endParaRPr lang="en-US" sz="1600" dirty="0"/>
          </a:p>
        </p:txBody>
      </p:sp>
      <p:sp>
        <p:nvSpPr>
          <p:cNvPr id="9" name="Text 7"/>
          <p:cNvSpPr/>
          <p:nvPr/>
        </p:nvSpPr>
        <p:spPr>
          <a:xfrm>
            <a:off x="1066800" y="3858121"/>
            <a:ext cx="48138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A6B7D"/>
                </a:solidFill>
                <a:latin typeface="Rubik" pitchFamily="34" charset="0"/>
                <a:ea typeface="Rubik" pitchFamily="34" charset="-122"/>
                <a:cs typeface="Rubik" pitchFamily="34" charset="-120"/>
              </a:rPr>
              <a:t>A primeira vez usa -u; depois, basta git push.</a:t>
            </a:r>
            <a:endParaRPr lang="en-US" sz="1500" dirty="0"/>
          </a:p>
        </p:txBody>
      </p:sp>
      <p:sp>
        <p:nvSpPr>
          <p:cNvPr id="10" name="Shape 8"/>
          <p:cNvSpPr/>
          <p:nvPr/>
        </p:nvSpPr>
        <p:spPr>
          <a:xfrm>
            <a:off x="6197600" y="1620441"/>
            <a:ext cx="5181600" cy="2758380"/>
          </a:xfrm>
          <a:prstGeom prst="roundRect">
            <a:avLst>
              <a:gd name="adj" fmla="val 3683"/>
            </a:avLst>
          </a:prstGeom>
          <a:solidFill>
            <a:srgbClr val="F4F6F9"/>
          </a:solidFill>
          <a:ln/>
        </p:spPr>
      </p:sp>
      <p:sp>
        <p:nvSpPr>
          <p:cNvPr id="11" name="Shape 9"/>
          <p:cNvSpPr/>
          <p:nvPr/>
        </p:nvSpPr>
        <p:spPr>
          <a:xfrm>
            <a:off x="6197600" y="1620441"/>
            <a:ext cx="5181600" cy="2758380"/>
          </a:xfrm>
          <a:custGeom>
            <a:avLst/>
            <a:gdLst/>
            <a:ahLst/>
            <a:cxnLst/>
            <a:rect l="l" t="t" r="r" b="b"/>
            <a:pathLst>
              <a:path w="5181600" h="275838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7901E"/>
          </a:solidFill>
          <a:ln/>
        </p:spPr>
      </p:sp>
      <p:sp>
        <p:nvSpPr>
          <p:cNvPr id="12" name="Text 10"/>
          <p:cNvSpPr/>
          <p:nvPr/>
        </p:nvSpPr>
        <p:spPr>
          <a:xfrm>
            <a:off x="6451600" y="19252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0589A"/>
                </a:solidFill>
                <a:latin typeface="Rubik" pitchFamily="34" charset="0"/>
                <a:ea typeface="Rubik" pitchFamily="34" charset="-122"/>
                <a:cs typeface="Rubik" pitchFamily="34" charset="-120"/>
              </a:rPr>
              <a:t>Receber: git pull</a:t>
            </a:r>
            <a:endParaRPr lang="en-US" sz="2000" dirty="0"/>
          </a:p>
        </p:txBody>
      </p:sp>
      <p:sp>
        <p:nvSpPr>
          <p:cNvPr id="13" name="Text 11"/>
          <p:cNvSpPr/>
          <p:nvPr/>
        </p:nvSpPr>
        <p:spPr>
          <a:xfrm>
            <a:off x="6451600" y="2382441"/>
            <a:ext cx="4673600" cy="690860"/>
          </a:xfrm>
          <a:prstGeom prst="roundRect">
            <a:avLst>
              <a:gd name="adj" fmla="val 11030"/>
            </a:avLst>
          </a:prstGeom>
          <a:solidFill>
            <a:srgbClr val="00365F"/>
          </a:solidFill>
          <a:ln/>
        </p:spPr>
        <p:txBody>
          <a:bodyPr wrap="square" lIns="180882" tIns="180882" rIns="52866" bIns="155482" rtlCol="0" anchor="t">
            <a:normAutofit/>
          </a:bodyPr>
          <a:lstStyle/>
          <a:p>
            <a:pPr algn="l" indent="0" marL="0">
              <a:lnSpc>
                <a:spcPts val="2240"/>
              </a:lnSpc>
              <a:buNone/>
            </a:pPr>
            <a:r>
              <a:rPr lang="en-US" sz="1600" dirty="0">
                <a:solidFill>
                  <a:srgbClr val="FFFFFF"/>
                </a:solidFill>
                <a:latin typeface="Courier New" pitchFamily="49" charset="0"/>
                <a:ea typeface="Courier New" pitchFamily="49" charset="-122"/>
                <a:cs typeface="Courier New" pitchFamily="49" charset="-120"/>
              </a:rPr>
              <a:t>git pull origin main</a:t>
            </a:r>
            <a:endParaRPr lang="en-US" sz="1600" dirty="0"/>
          </a:p>
        </p:txBody>
      </p:sp>
      <p:sp>
        <p:nvSpPr>
          <p:cNvPr id="14" name="Text 12"/>
          <p:cNvSpPr/>
          <p:nvPr/>
        </p:nvSpPr>
        <p:spPr>
          <a:xfrm>
            <a:off x="6451600" y="3225701"/>
            <a:ext cx="48138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A6B7D"/>
                </a:solidFill>
                <a:latin typeface="Rubik" pitchFamily="34" charset="0"/>
                <a:ea typeface="Rubik" pitchFamily="34" charset="-122"/>
                <a:cs typeface="Rubik" pitchFamily="34" charset="-120"/>
              </a:rPr>
              <a:t>Baixa e une as mudanças dos colegas.</a:t>
            </a:r>
            <a:endParaRPr lang="en-US" sz="1500" dirty="0"/>
          </a:p>
        </p:txBody>
      </p:sp>
      <p:sp>
        <p:nvSpPr>
          <p:cNvPr id="15" name="Text 13"/>
          <p:cNvSpPr/>
          <p:nvPr/>
        </p:nvSpPr>
        <p:spPr>
          <a:xfrm>
            <a:off x="812800" y="468362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7901E"/>
                </a:solidFill>
                <a:latin typeface="Rubik" pitchFamily="34" charset="0"/>
                <a:ea typeface="Rubik" pitchFamily="34" charset="-122"/>
                <a:cs typeface="Rubik" pitchFamily="34" charset="-120"/>
              </a:rPr>
              <a:t>Regra de ouro:</a:t>
            </a:r>
            <a:r>
              <a:rPr lang="en-US" sz="1700" dirty="0">
                <a:solidFill>
                  <a:srgbClr val="1B2A3A"/>
                </a:solidFill>
                <a:latin typeface="Rubik" pitchFamily="34" charset="0"/>
                <a:ea typeface="Rubik" pitchFamily="34" charset="-122"/>
                <a:cs typeface="Rubik" pitchFamily="34" charset="-120"/>
              </a:rPr>
              <a:t> rode git pull antes de começar a trabalhar e antes de enviar.</a:t>
            </a:r>
            <a:endParaRPr lang="en-US" sz="1700" dirty="0"/>
          </a:p>
        </p:txBody>
      </p:sp>
      <p:sp>
        <p:nvSpPr>
          <p:cNvPr id="16" name="Text 14"/>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0589A"/>
                </a:solidFill>
                <a:latin typeface="Rubik" pitchFamily="34" charset="0"/>
                <a:ea typeface="Rubik" pitchFamily="34" charset="-122"/>
                <a:cs typeface="Rubik" pitchFamily="34" charset="-120"/>
              </a:rPr>
              <a:t>Pull request: pedir a revisão</a:t>
            </a:r>
            <a:endParaRPr lang="en-US" sz="3600" dirty="0"/>
          </a:p>
        </p:txBody>
      </p:sp>
      <p:sp>
        <p:nvSpPr>
          <p:cNvPr id="3" name="Text 1"/>
          <p:cNvSpPr/>
          <p:nvPr/>
        </p:nvSpPr>
        <p:spPr>
          <a:xfrm>
            <a:off x="812800" y="1620441"/>
            <a:ext cx="10883392" cy="1305322"/>
          </a:xfrm>
          <a:prstGeom prst="rect">
            <a:avLst/>
          </a:prstGeom>
          <a:noFill/>
          <a:ln/>
        </p:spPr>
        <p:txBody>
          <a:bodyPr wrap="square" lIns="0" tIns="0" rIns="0" bIns="0" rtlCol="0" anchor="t">
            <a:normAutofit/>
          </a:bodyPr>
          <a:lstStyle/>
          <a:p>
            <a:pPr algn="l" marL="274320" indent="-274320">
              <a:lnSpc>
                <a:spcPts val="2520"/>
              </a:lnSpc>
              <a:buSzPct val="100000"/>
              <a:buFontTx/>
              <a:buAutoNum type="arabicPeriod" startAt="1"/>
            </a:pPr>
            <a:r>
              <a:rPr lang="en-US" sz="1800" dirty="0">
                <a:solidFill>
                  <a:srgbClr val="1B2A3A"/>
                </a:solidFill>
                <a:latin typeface="Rubik" pitchFamily="34" charset="0"/>
                <a:ea typeface="Rubik" pitchFamily="34" charset="-122"/>
                <a:cs typeface="Rubik" pitchFamily="34" charset="-120"/>
              </a:rPr>
              <a:t>Envie a branch com git push.</a:t>
            </a:r>
            <a:endParaRPr lang="en-US" sz="1800" dirty="0"/>
          </a:p>
          <a:p>
            <a:pPr algn="l" marL="274320" indent="-274320">
              <a:lnSpc>
                <a:spcPts val="2520"/>
              </a:lnSpc>
              <a:buSzPct val="100000"/>
              <a:buFontTx/>
              <a:buAutoNum type="arabicPeriod" startAt="1"/>
            </a:pPr>
            <a:r>
              <a:rPr lang="en-US" sz="1800" dirty="0">
                <a:solidFill>
                  <a:srgbClr val="1B2A3A"/>
                </a:solidFill>
                <a:latin typeface="Rubik" pitchFamily="34" charset="0"/>
                <a:ea typeface="Rubik" pitchFamily="34" charset="-122"/>
                <a:cs typeface="Rubik" pitchFamily="34" charset="-120"/>
              </a:rPr>
              <a:t>No GitHub, clique em Compare &amp; pull request.</a:t>
            </a:r>
            <a:endParaRPr lang="en-US" sz="1800" dirty="0"/>
          </a:p>
          <a:p>
            <a:pPr algn="l" marL="274320" indent="-274320">
              <a:lnSpc>
                <a:spcPts val="2520"/>
              </a:lnSpc>
              <a:buSzPct val="100000"/>
              <a:buFontTx/>
              <a:buAutoNum type="arabicPeriod" startAt="1"/>
            </a:pPr>
            <a:r>
              <a:rPr lang="en-US" sz="1800" dirty="0">
                <a:solidFill>
                  <a:srgbClr val="1B2A3A"/>
                </a:solidFill>
                <a:latin typeface="Rubik" pitchFamily="34" charset="0"/>
                <a:ea typeface="Rubik" pitchFamily="34" charset="-122"/>
                <a:cs typeface="Rubik" pitchFamily="34" charset="-120"/>
              </a:rPr>
              <a:t>Escreva o que foi feito e indique um revisor.</a:t>
            </a:r>
            <a:endParaRPr lang="en-US" sz="1800" dirty="0"/>
          </a:p>
          <a:p>
            <a:pPr algn="l" marL="274320" indent="-274320">
              <a:lnSpc>
                <a:spcPts val="2520"/>
              </a:lnSpc>
              <a:buSzPct val="100000"/>
              <a:buFontTx/>
              <a:buAutoNum type="arabicPeriod" startAt="1"/>
            </a:pPr>
            <a:r>
              <a:rPr lang="en-US" sz="1800" dirty="0">
                <a:solidFill>
                  <a:srgbClr val="1B2A3A"/>
                </a:solidFill>
                <a:latin typeface="Rubik" pitchFamily="34" charset="0"/>
                <a:ea typeface="Rubik" pitchFamily="34" charset="-122"/>
                <a:cs typeface="Rubik" pitchFamily="34" charset="-120"/>
              </a:rPr>
              <a:t>Após a aprovação, clique em Merge pull request.</a:t>
            </a:r>
            <a:endParaRPr lang="en-US" sz="1800" dirty="0"/>
          </a:p>
        </p:txBody>
      </p:sp>
      <p:sp>
        <p:nvSpPr>
          <p:cNvPr id="4" name="Text 2"/>
          <p:cNvSpPr/>
          <p:nvPr/>
        </p:nvSpPr>
        <p:spPr>
          <a:xfrm>
            <a:off x="812800" y="3205163"/>
            <a:ext cx="10566400" cy="810220"/>
          </a:xfrm>
          <a:prstGeom prst="roundRect">
            <a:avLst>
              <a:gd name="adj" fmla="val 12540"/>
            </a:avLst>
          </a:prstGeom>
          <a:solidFill>
            <a:srgbClr val="F4F6F9"/>
          </a:solidFill>
          <a:ln/>
        </p:spPr>
        <p:txBody>
          <a:bodyPr wrap="square" lIns="287742" tIns="224242" rIns="0" bIns="198842" rtlCol="0" anchor="t">
            <a:normAutofit/>
          </a:bodyPr>
          <a:lstStyle/>
          <a:p>
            <a:pPr algn="l" indent="0" marL="0">
              <a:lnSpc>
                <a:spcPts val="2380"/>
              </a:lnSpc>
              <a:buNone/>
            </a:pPr>
            <a:r>
              <a:rPr lang="en-US" sz="1700" b="1" dirty="0">
                <a:solidFill>
                  <a:srgbClr val="00589A"/>
                </a:solidFill>
                <a:latin typeface="Rubik" pitchFamily="34" charset="0"/>
                <a:ea typeface="Rubik" pitchFamily="34" charset="-122"/>
                <a:cs typeface="Rubik" pitchFamily="34" charset="-120"/>
              </a:rPr>
              <a:t>Fork:</a:t>
            </a:r>
            <a:r>
              <a:rPr lang="en-US" sz="1700" dirty="0">
                <a:solidFill>
                  <a:srgbClr val="1B2A3A"/>
                </a:solidFill>
                <a:latin typeface="Rubik" pitchFamily="34" charset="0"/>
                <a:ea typeface="Rubik" pitchFamily="34" charset="-122"/>
                <a:cs typeface="Rubik" pitchFamily="34" charset="-120"/>
              </a:rPr>
              <a:t> cópia do projeto de outra pessoa na sua conta. Use quando não tiver permissão de escrita.</a:t>
            </a:r>
            <a:endParaRPr lang="en-US" sz="1700" dirty="0"/>
          </a:p>
        </p:txBody>
      </p:sp>
      <p:sp>
        <p:nvSpPr>
          <p:cNvPr id="5" name="Shape 3"/>
          <p:cNvSpPr/>
          <p:nvPr/>
        </p:nvSpPr>
        <p:spPr>
          <a:xfrm>
            <a:off x="812800" y="3205163"/>
            <a:ext cx="10566400" cy="810220"/>
          </a:xfrm>
          <a:custGeom>
            <a:avLst/>
            <a:gdLst/>
            <a:ahLst/>
            <a:cxnLst/>
            <a:rect l="l" t="t" r="r" b="b"/>
            <a:pathLst>
              <a:path w="10566400" h="810220">
                <a:moveTo>
                  <a:pt x="101600" y="810220"/>
                </a:moveTo>
                <a:lnTo>
                  <a:pt x="101600" y="810220"/>
                </a:lnTo>
                <a:arcTo hR="101600" wR="101600" stAng="5400000" swAng="5400000"/>
                <a:lnTo>
                  <a:pt x="0" y="101600"/>
                </a:lnTo>
                <a:arcTo hR="101600" wR="101600" stAng="10800000" swAng="5400000"/>
                <a:lnTo>
                  <a:pt x="101600" y="0"/>
                </a:lnTo>
                <a:arcTo hR="101600" wR="38100" stAng="16200000" swAng="-5400000"/>
                <a:lnTo>
                  <a:pt x="63500" y="708620"/>
                </a:lnTo>
                <a:arcTo hR="101600" wR="38100" stAng="10800000" swAng="-5400000"/>
                <a:close/>
              </a:path>
            </a:pathLst>
          </a:custGeom>
          <a:solidFill>
            <a:srgbClr val="F7901E"/>
          </a:solidFill>
          <a:ln/>
        </p:spPr>
      </p:sp>
      <p:sp>
        <p:nvSpPr>
          <p:cNvPr id="6" name="Text 4"/>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589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Rubik" pitchFamily="34" charset="0"/>
                <a:ea typeface="Rubik" pitchFamily="34" charset="-122"/>
                <a:cs typeface="Rubik" pitchFamily="34" charset="-120"/>
              </a:rPr>
              <a:t>Resumo dos comandos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41"/>
          <a:ext cx="10553700" cy="3714750"/>
        </p:xfrm>
        <a:graphic>
          <a:graphicData uri="http://schemas.openxmlformats.org/drawingml/2006/table">
            <a:tbl>
              <a:tblPr/>
              <a:tblGrid>
                <a:gridCol w="4221480"/>
                <a:gridCol w="6332220"/>
              </a:tblGrid>
              <a:tr h="412750">
                <a:tc>
                  <a:txBody>
                    <a:bodyPr/>
                    <a:lstStyle/>
                    <a:p>
                      <a:pPr indent="0" marL="0">
                        <a:lnSpc>
                          <a:spcPts val="2100"/>
                        </a:lnSpc>
                        <a:buNone/>
                      </a:pPr>
                      <a:r>
                        <a:rPr lang="en-US" sz="1500" b="1" dirty="0">
                          <a:solidFill>
                            <a:srgbClr val="1B2A3A"/>
                          </a:solidFill>
                          <a:latin typeface="Rubik" pitchFamily="34" charset="0"/>
                          <a:ea typeface="Rubik" pitchFamily="34" charset="-122"/>
                          <a:cs typeface="Rubik" pitchFamily="34" charset="-120"/>
                        </a:rPr>
                        <a:t>Ação</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F8A74D"/>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F8A74D"/>
                      </a:solidFill>
                      <a:prstDash val="solid"/>
                      <a:round/>
                      <a:headEnd type="none" w="med" len="med"/>
                      <a:tailEnd type="none" w="med" len="med"/>
                    </a:lnB>
                    <a:solidFill>
                      <a:srgbClr val="F7901E"/>
                    </a:solidFill>
                  </a:tcPr>
                </a:tc>
                <a:tc>
                  <a:txBody>
                    <a:bodyPr/>
                    <a:lstStyle/>
                    <a:p>
                      <a:pPr indent="0" marL="0">
                        <a:lnSpc>
                          <a:spcPts val="2100"/>
                        </a:lnSpc>
                        <a:buNone/>
                      </a:pPr>
                      <a:r>
                        <a:rPr lang="en-US" sz="1500" b="1" dirty="0">
                          <a:solidFill>
                            <a:srgbClr val="1B2A3A"/>
                          </a:solidFill>
                          <a:latin typeface="Rubik" pitchFamily="34" charset="0"/>
                          <a:ea typeface="Rubik" pitchFamily="34" charset="-122"/>
                          <a:cs typeface="Rubik" pitchFamily="34" charset="-120"/>
                        </a:rPr>
                        <a:t>Comando</a:t>
                      </a:r>
                      <a:endParaRPr lang="en-US" sz="1500" dirty="0">
                        <a:latin typeface="Rubik" charset="0"/>
                        <a:ea typeface="Rubik" charset="0"/>
                        <a:cs typeface="Rubik" charset="0"/>
                      </a:endParaRPr>
                    </a:p>
                  </a:txBody>
                  <a:tcPr marL="66675" marR="66675" marT="66675" marB="66675" anchor="t">
                    <a:lnL w="12700" cap="flat" cmpd="sng" algn="ctr">
                      <a:solidFill>
                        <a:srgbClr val="F8A74D"/>
                      </a:solidFill>
                      <a:prstDash val="solid"/>
                      <a:round/>
                      <a:headEnd type="none" w="med" len="med"/>
                      <a:tailEnd type="none" w="med" len="med"/>
                    </a:lnL>
                    <a:lnR w="12700" cap="flat" cmpd="sng" algn="ctr">
                      <a:solidFill>
                        <a:srgbClr val="F8A74D"/>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F8A74D"/>
                      </a:solidFill>
                      <a:prstDash val="solid"/>
                      <a:round/>
                      <a:headEnd type="none" w="med" len="med"/>
                      <a:tailEnd type="none" w="med" len="med"/>
                    </a:lnB>
                    <a:solidFill>
                      <a:srgbClr val="F7901E"/>
                    </a:solidFill>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Iniciar repositório</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F8A74D"/>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init</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F8A74D"/>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Ver situação</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status</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Preparar arquivos</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add .</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Registrar mudanças</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commit -m "mensagem"</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Criar e trocar branch</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switch -c nome</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Unir branch</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merge nome</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Enviar</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push</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r h="412750">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Receber</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c>
                  <a:txBody>
                    <a:bodyPr/>
                    <a:lstStyle/>
                    <a:p>
                      <a:pPr indent="0" marL="0">
                        <a:lnSpc>
                          <a:spcPts val="2100"/>
                        </a:lnSpc>
                        <a:buNone/>
                      </a:pPr>
                      <a:r>
                        <a:rPr lang="en-US" sz="1500" dirty="0">
                          <a:solidFill>
                            <a:srgbClr val="FFFFFF"/>
                          </a:solidFill>
                          <a:latin typeface="Rubik" pitchFamily="34" charset="0"/>
                          <a:ea typeface="Rubik" pitchFamily="34" charset="-122"/>
                          <a:cs typeface="Rubik" pitchFamily="34" charset="-120"/>
                        </a:rPr>
                        <a:t>git pull</a:t>
                      </a:r>
                      <a:endParaRPr lang="en-US" sz="1500" dirty="0">
                        <a:latin typeface="Rubik" charset="0"/>
                        <a:ea typeface="Rubik" charset="0"/>
                        <a:cs typeface="Rubik" charset="0"/>
                      </a:endParaRPr>
                    </a:p>
                  </a:txBody>
                  <a:tcPr marL="66675" marR="66675" marT="66675" marB="66675" anchor="t">
                    <a:lnL w="12700" cap="flat" cmpd="sng" algn="ctr">
                      <a:solidFill>
                        <a:srgbClr val="377BAE"/>
                      </a:solidFill>
                      <a:prstDash val="solid"/>
                      <a:round/>
                      <a:headEnd type="none" w="med" len="med"/>
                      <a:tailEnd type="none" w="med" len="med"/>
                    </a:lnL>
                    <a:lnR w="12700" cap="flat" cmpd="sng" algn="ctr">
                      <a:solidFill>
                        <a:srgbClr val="377BAE"/>
                      </a:solidFill>
                      <a:prstDash val="solid"/>
                      <a:round/>
                      <a:headEnd type="none" w="med" len="med"/>
                      <a:tailEnd type="none" w="med" len="med"/>
                    </a:lnR>
                    <a:lnT w="12700" cap="flat" cmpd="sng" algn="ctr">
                      <a:solidFill>
                        <a:srgbClr val="377BAE"/>
                      </a:solidFill>
                      <a:prstDash val="solid"/>
                      <a:round/>
                      <a:headEnd type="none" w="med" len="med"/>
                      <a:tailEnd type="none" w="med" len="med"/>
                    </a:lnT>
                    <a:lnB w="12700" cap="flat" cmpd="sng" algn="ctr">
                      <a:solidFill>
                        <a:srgbClr val="377BAE"/>
                      </a:solidFill>
                      <a:prstDash val="solid"/>
                      <a:round/>
                      <a:headEnd type="none" w="med" len="med"/>
                      <a:tailEnd type="none" w="med" len="med"/>
                    </a:lnB>
                  </a:tcPr>
                </a:tc>
              </a:tr>
            </a:tbl>
          </a:graphicData>
        </a:graphic>
      </p:graphicFrame>
      <p:sp>
        <p:nvSpPr>
          <p:cNvPr id="4" name="Text 1"/>
          <p:cNvSpPr/>
          <p:nvPr/>
        </p:nvSpPr>
        <p:spPr>
          <a:xfrm>
            <a:off x="812800" y="6238280"/>
            <a:ext cx="1700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Rubik" pitchFamily="34" charset="0"/>
                <a:ea typeface="Rubik" pitchFamily="34" charset="-122"/>
                <a:cs typeface="Rubik" pitchFamily="34" charset="-120"/>
              </a:rPr>
              <a:t>Git e GitHub · Senac</a:t>
            </a:r>
            <a:endParaRPr lang="en-US" sz="1200" dirty="0"/>
          </a:p>
        </p:txBody>
      </p:sp>
    </p:spTree>
  </p:cSld>
  <p:clrMapOvr>
    <a:masterClrMapping/>
  </p:clrMapOvr>
</p:sld>
</file>

<file path=ppt/theme/theme1.xml><?xml version="1.0" encoding="utf-8"?>
<a:theme xmlns:a="http://schemas.openxmlformats.org/drawingml/2006/main" name="Comandos Git e GitHub">
  <a:themeElements>
    <a:clrScheme name="Comandos Git e GitHub">
      <a:dk1>
        <a:srgbClr val="00589A"/>
      </a:dk1>
      <a:lt1>
        <a:srgbClr val="FFFFFF"/>
      </a:lt1>
      <a:dk2>
        <a:srgbClr val="4082B3"/>
      </a:dk2>
      <a:lt2>
        <a:srgbClr val="E6EEF5"/>
      </a:lt2>
      <a:accent1>
        <a:srgbClr val="F7901E"/>
      </a:accent1>
      <a:accent2>
        <a:srgbClr val="00365F"/>
      </a:accent2>
      <a:accent3>
        <a:srgbClr val="5A6B7D"/>
      </a:accent3>
      <a:accent4>
        <a:srgbClr val="1B2A3A"/>
      </a:accent4>
      <a:accent5>
        <a:srgbClr val="9AA0A6"/>
      </a:accent5>
      <a:accent6>
        <a:srgbClr val="669BC2"/>
      </a:accent6>
      <a:hlink>
        <a:srgbClr val="0563C1"/>
      </a:hlink>
      <a:folHlink>
        <a:srgbClr val="954F72"/>
      </a:folHlink>
    </a:clrScheme>
    <a:fontScheme name="Comandos Git e GitHub">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Comandos Git e GitHub</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2026-10-21T22:21:05Z</dcterms:created>
  <dcterms:modified xsi:type="dcterms:W3CDTF">2026-10-21T22:21:05Z</dcterms:modified>
</cp:coreProperties>
</file>